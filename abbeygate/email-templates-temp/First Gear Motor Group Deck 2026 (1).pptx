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7476349c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c7476349cb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7476349c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c7476349cb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7476349c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c7476349cb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" y="0"/>
            <a:ext cx="1746358" cy="6858000"/>
          </a:xfrm>
          <a:prstGeom prst="rect">
            <a:avLst/>
          </a:prstGeom>
          <a:solidFill>
            <a:srgbClr val="2596B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logo with white text&#10;&#10;AI-generated content may be incorrect." id="85" name="Google Shape;85;p13"/>
          <p:cNvPicPr preferRelativeResize="0"/>
          <p:nvPr/>
        </p:nvPicPr>
        <p:blipFill rotWithShape="1">
          <a:blip r:embed="rId3">
            <a:alphaModFix/>
          </a:blip>
          <a:srcRect b="36203" l="30147" r="29819" t="0"/>
          <a:stretch/>
        </p:blipFill>
        <p:spPr>
          <a:xfrm>
            <a:off x="7338016" y="114423"/>
            <a:ext cx="1746359" cy="220559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835357" y="3881640"/>
            <a:ext cx="3027251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Calibri"/>
              <a:buNone/>
            </a:pPr>
            <a:r>
              <a:t/>
            </a:r>
            <a:endParaRPr b="0" sz="4050" u="none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>
            <p:ph type="ctrTitle"/>
          </p:nvPr>
        </p:nvSpPr>
        <p:spPr>
          <a:xfrm>
            <a:off x="712715" y="1058457"/>
            <a:ext cx="6625301" cy="47410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1100"/>
              <a:buFont typeface="Arial"/>
              <a:buNone/>
            </a:pPr>
            <a:br>
              <a:rPr b="1" lang="en-GB" sz="11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GB" sz="11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GB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First Gear Motor Group</a:t>
            </a:r>
            <a:endParaRPr sz="24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rgbClr val="2596BE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The UK’s First Dedicated First Time Driver Platform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rgbClr val="2596BE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rgbClr val="2596BE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rgbClr val="2596BE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Retailing qualifying dealer part exchanges under a trusted, specialist brand.</a:t>
            </a:r>
            <a:br>
              <a:rPr lang="en-GB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b="1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4400"/>
              <a:buFont typeface="Arial"/>
              <a:buNone/>
            </a:pPr>
            <a:r>
              <a:rPr b="1" lang="en-GB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1" lang="en-GB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 Opportunity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457200" y="1417650"/>
            <a:ext cx="8229600" cy="48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A Structurally Underserved Segment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700,000+ new drivers in the UK annually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Significant proportion purchase vehicles under £5,000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First year insurance premiums often £2,000-£3,500+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Sub £5,000 segment estimated £3.5bn-£5.9bn annually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No national brand dedicated exclusively to first time drivers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Demand exists. Supply exists.</a:t>
            </a: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They are not efficiently connected.</a:t>
            </a:r>
            <a:endParaRPr b="1"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logo with white text&#10;&#10;AI-generated content may be incorrect." id="94" name="Google Shape;94;p14"/>
          <p:cNvPicPr preferRelativeResize="0"/>
          <p:nvPr/>
        </p:nvPicPr>
        <p:blipFill rotWithShape="1">
          <a:blip r:embed="rId3">
            <a:alphaModFix/>
          </a:blip>
          <a:srcRect b="37640" l="32982" r="33404" t="0"/>
          <a:stretch/>
        </p:blipFill>
        <p:spPr>
          <a:xfrm>
            <a:off x="8229599" y="5592314"/>
            <a:ext cx="799363" cy="1173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4400"/>
              <a:buFont typeface="Arial"/>
              <a:buNone/>
            </a:pPr>
            <a:r>
              <a:rPr b="1" lang="en-GB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The Problem for Dealers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457200" y="1417650"/>
            <a:ext cx="8229600" cy="47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3200"/>
              <a:buNone/>
            </a:pPr>
            <a:r>
              <a:rPr b="1" lang="en-GB" sz="2800">
                <a:solidFill>
                  <a:srgbClr val="2596BE"/>
                </a:solidFill>
              </a:rPr>
              <a:t>Low Value Part Exchanges are Inefficient</a:t>
            </a:r>
            <a:endParaRPr b="1" sz="2800">
              <a:solidFill>
                <a:srgbClr val="2596BE"/>
              </a:solidFill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592"/>
              </a:spcBef>
              <a:spcAft>
                <a:spcPts val="0"/>
              </a:spcAft>
              <a:buClr>
                <a:srgbClr val="2596BE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Low auction returns and high fees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Admin time spent on low value retail stock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Lost workshop utilisation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Missed customer lifetime value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ctr">
              <a:spcBef>
                <a:spcPts val="592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Dealers send value to auction that could be retained.</a:t>
            </a:r>
            <a:endParaRPr b="1"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logo with white text&#10;&#10;AI-generated content may be incorrect." id="101" name="Google Shape;101;p15"/>
          <p:cNvPicPr preferRelativeResize="0"/>
          <p:nvPr/>
        </p:nvPicPr>
        <p:blipFill rotWithShape="1">
          <a:blip r:embed="rId3">
            <a:alphaModFix/>
          </a:blip>
          <a:srcRect b="37640" l="32982" r="33404" t="0"/>
          <a:stretch/>
        </p:blipFill>
        <p:spPr>
          <a:xfrm>
            <a:off x="8229599" y="5592314"/>
            <a:ext cx="799363" cy="1173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4400"/>
              <a:buFont typeface="Arial"/>
              <a:buNone/>
            </a:pPr>
            <a:r>
              <a:rPr b="1" lang="en-GB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The First Gear Solution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457200" y="1417650"/>
            <a:ext cx="8229600" cy="47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3200"/>
              <a:buNone/>
            </a:pPr>
            <a:r>
              <a:rPr b="1" lang="en-GB" sz="2800">
                <a:solidFill>
                  <a:srgbClr val="2596BE"/>
                </a:solidFill>
              </a:rPr>
              <a:t>A Zero Risk, Zero Admin Retail Partnership Model</a:t>
            </a:r>
            <a:endParaRPr b="1" sz="2800">
              <a:solidFill>
                <a:srgbClr val="2596BE"/>
              </a:solidFill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2596BE"/>
              </a:solidFill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b="1" lang="en-GB" sz="2416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The Process:</a:t>
            </a:r>
            <a:endParaRPr b="1" sz="2416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t/>
            </a:r>
            <a:endParaRPr b="1" sz="2416">
              <a:solidFill>
                <a:srgbClr val="2596BE"/>
              </a:solidFill>
            </a:endParaRPr>
          </a:p>
          <a:p>
            <a:pPr indent="-368300" lvl="0" marL="457200" rtl="0" algn="l">
              <a:spcBef>
                <a:spcPts val="592"/>
              </a:spcBef>
              <a:spcAft>
                <a:spcPts val="0"/>
              </a:spcAft>
              <a:buClr>
                <a:srgbClr val="2596BE"/>
              </a:buClr>
              <a:buSzPts val="2200"/>
              <a:buFont typeface="Arial"/>
              <a:buAutoNum type="arabicPeriod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Dealer flags qualifying part exchange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Font typeface="Arial"/>
              <a:buAutoNum type="arabicPeriod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First Gear agrees guaranteed return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Font typeface="Arial"/>
              <a:buAutoNum type="arabicPeriod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Dealer completes prep (funded by First Gear)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Font typeface="Arial"/>
              <a:buAutoNum type="arabicPeriod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First Gear handles marketing, sale &amp; handover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Font typeface="Arial"/>
              <a:buAutoNum type="arabicPeriod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Dealer receives guaranteed return + workshop revenue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ctr">
              <a:spcBef>
                <a:spcPts val="592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Sales risk sits with First Gear, not the dealer.</a:t>
            </a:r>
            <a:endParaRPr b="1"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logo with white text&#10;&#10;AI-generated content may be incorrect." id="108" name="Google Shape;108;p16"/>
          <p:cNvPicPr preferRelativeResize="0"/>
          <p:nvPr/>
        </p:nvPicPr>
        <p:blipFill rotWithShape="1">
          <a:blip r:embed="rId3">
            <a:alphaModFix/>
          </a:blip>
          <a:srcRect b="37640" l="32981" r="33405" t="0"/>
          <a:stretch/>
        </p:blipFill>
        <p:spPr>
          <a:xfrm>
            <a:off x="8229599" y="5592314"/>
            <a:ext cx="799364" cy="1173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ct val="100000"/>
              <a:buFont typeface="Arial"/>
              <a:buNone/>
            </a:pPr>
            <a:r>
              <a:rPr b="1" lang="en-GB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The Problem for </a:t>
            </a:r>
            <a:endParaRPr b="1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ct val="100000"/>
              <a:buFont typeface="Arial"/>
              <a:buNone/>
            </a:pPr>
            <a:r>
              <a:rPr b="1" lang="en-GB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First Time Drivers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457200" y="1676800"/>
            <a:ext cx="8229600" cy="48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592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2596BE"/>
                </a:solidFill>
              </a:rPr>
              <a:t>Buying a First Car is Overwhelming and High Risk</a:t>
            </a:r>
            <a:br>
              <a:rPr b="1" lang="en-GB" sz="2800">
                <a:solidFill>
                  <a:srgbClr val="2596BE"/>
                </a:solidFill>
              </a:rPr>
            </a:br>
            <a:endParaRPr b="1" sz="2800">
              <a:solidFill>
                <a:srgbClr val="2596BE"/>
              </a:solidFill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592"/>
              </a:spcBef>
              <a:spcAft>
                <a:spcPts val="0"/>
              </a:spcAft>
              <a:buClr>
                <a:srgbClr val="2596BE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Limited budget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High insurance premiums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Lack of trust in private sellers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No structured guidance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ctr">
              <a:spcBef>
                <a:spcPts val="592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Young drivers are left navigating one of their biggest financial decisions alone.</a:t>
            </a:r>
            <a:endParaRPr b="1"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logo with white text&#10;&#10;AI-generated content may be incorrect." id="115" name="Google Shape;115;p17"/>
          <p:cNvPicPr preferRelativeResize="0"/>
          <p:nvPr/>
        </p:nvPicPr>
        <p:blipFill rotWithShape="1">
          <a:blip r:embed="rId3">
            <a:alphaModFix/>
          </a:blip>
          <a:srcRect b="37640" l="32981" r="33405" t="0"/>
          <a:stretch/>
        </p:blipFill>
        <p:spPr>
          <a:xfrm>
            <a:off x="8229599" y="5592314"/>
            <a:ext cx="799364" cy="1173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4400"/>
              <a:buFont typeface="Arial"/>
              <a:buNone/>
            </a:pPr>
            <a:r>
              <a:rPr b="1" lang="en-GB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The First Gear Solution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457200" y="1417650"/>
            <a:ext cx="8229600" cy="47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592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2596BE"/>
                </a:solidFill>
              </a:rPr>
              <a:t>The Nationwide One Stop Shop</a:t>
            </a:r>
            <a:endParaRPr b="1" sz="2800">
              <a:solidFill>
                <a:srgbClr val="2596BE"/>
              </a:solidFill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596BE"/>
              </a:solidFill>
            </a:endParaRPr>
          </a:p>
          <a:p>
            <a:pPr indent="-368300" lvl="0" marL="457200" rtl="0" algn="l">
              <a:spcBef>
                <a:spcPts val="592"/>
              </a:spcBef>
              <a:spcAft>
                <a:spcPts val="0"/>
              </a:spcAft>
              <a:buClr>
                <a:srgbClr val="2596BE"/>
              </a:buClr>
              <a:buSzPts val="2200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HPI clear vehicles within strict criteria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Specialist insurance partnership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Warranty options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Driving school network referrals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Trusted, structured buying process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592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592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Everything in one place on a nationwide platform.</a:t>
            </a:r>
            <a:endParaRPr b="1"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logo with white text&#10;&#10;AI-generated content may be incorrect." id="122" name="Google Shape;122;p18"/>
          <p:cNvPicPr preferRelativeResize="0"/>
          <p:nvPr/>
        </p:nvPicPr>
        <p:blipFill rotWithShape="1">
          <a:blip r:embed="rId3">
            <a:alphaModFix/>
          </a:blip>
          <a:srcRect b="37640" l="32981" r="33405" t="0"/>
          <a:stretch/>
        </p:blipFill>
        <p:spPr>
          <a:xfrm>
            <a:off x="8229599" y="5592314"/>
            <a:ext cx="799364" cy="1173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457200" y="2387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4400"/>
              <a:buFont typeface="Arial"/>
              <a:buNone/>
            </a:pPr>
            <a:r>
              <a:rPr b="1" lang="en-GB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Example Deal Economics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457200" y="1453600"/>
            <a:ext cx="8229600" cy="49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Retail price: £2,000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Auction estimated return: £500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First Gear guaranteed return: £1,000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Preparation budget: £300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Dealer outcome</a:t>
            </a: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+£500 uplift vs auction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+£300 workshop revenue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First Gear outcome</a:t>
            </a: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£700 gross margin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Insurance referral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Warranty referral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Finance referral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logo with white text&#10;&#10;AI-generated content may be incorrect." id="129" name="Google Shape;129;p19"/>
          <p:cNvPicPr preferRelativeResize="0"/>
          <p:nvPr/>
        </p:nvPicPr>
        <p:blipFill rotWithShape="1">
          <a:blip r:embed="rId3">
            <a:alphaModFix/>
          </a:blip>
          <a:srcRect b="37640" l="32982" r="33404" t="0"/>
          <a:stretch/>
        </p:blipFill>
        <p:spPr>
          <a:xfrm>
            <a:off x="8229599" y="5592314"/>
            <a:ext cx="799363" cy="1173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4400"/>
              <a:buFont typeface="Arial"/>
              <a:buNone/>
            </a:pPr>
            <a:r>
              <a:rPr b="1" lang="en-GB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Competitive Advantage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457200" y="1525376"/>
            <a:ext cx="8229600" cy="4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683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596BE"/>
              </a:buClr>
              <a:buSzPts val="2200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Niche positioning as first time driver specialist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Zero risk dealer partnership model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Capital light structure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Embedded insurance/warranty potential</a:t>
            </a:r>
            <a:b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•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Scalable via regional dealer network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b="1"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Designed to become the trusted first point of contact for new drivers nationwide.</a:t>
            </a:r>
            <a:endParaRPr b="1"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logo with white text&#10;&#10;AI-generated content may be incorrect." id="136" name="Google Shape;136;p20"/>
          <p:cNvPicPr preferRelativeResize="0"/>
          <p:nvPr/>
        </p:nvPicPr>
        <p:blipFill rotWithShape="1">
          <a:blip r:embed="rId3">
            <a:alphaModFix/>
          </a:blip>
          <a:srcRect b="37640" l="32982" r="33404" t="0"/>
          <a:stretch/>
        </p:blipFill>
        <p:spPr>
          <a:xfrm>
            <a:off x="8229599" y="5592314"/>
            <a:ext cx="799363" cy="1173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4400"/>
              <a:buFont typeface="Arial"/>
              <a:buNone/>
            </a:pPr>
            <a:r>
              <a:rPr b="1" lang="en-GB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Growth Strategy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457200" y="999350"/>
            <a:ext cx="8229600" cy="53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Font typeface="Arial"/>
              <a:buChar char="●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Regional dealer partnerships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Font typeface="Arial"/>
              <a:buChar char="●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Nationwide driving school partnerships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Font typeface="Arial"/>
              <a:buChar char="●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Specialist insurance partner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●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Nationwide dealer partnerships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Font typeface="Arial"/>
              <a:buChar char="●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National brand recognition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Font typeface="Arial"/>
              <a:buChar char="●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Insurance &amp; Finance partnerships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●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Increased stock flow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●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The one stop shop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●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Dedicated sales &amp; logistics support</a:t>
            </a:r>
            <a:endParaRPr b="1"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logo with white text&#10;&#10;AI-generated content may be incorrect." id="143" name="Google Shape;143;p21"/>
          <p:cNvPicPr preferRelativeResize="0"/>
          <p:nvPr/>
        </p:nvPicPr>
        <p:blipFill rotWithShape="1">
          <a:blip r:embed="rId3">
            <a:alphaModFix/>
          </a:blip>
          <a:srcRect b="37640" l="32982" r="33404" t="0"/>
          <a:stretch/>
        </p:blipFill>
        <p:spPr>
          <a:xfrm>
            <a:off x="8229599" y="5592314"/>
            <a:ext cx="799363" cy="1173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4400"/>
              <a:buFont typeface="Arial"/>
              <a:buNone/>
            </a:pPr>
            <a:r>
              <a:rPr b="1" lang="en-GB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Why This May Be Relevant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457200" y="1600200"/>
            <a:ext cx="8229600" cy="49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596BE"/>
              </a:buClr>
              <a:buSzPts val="2200"/>
              <a:buChar char="●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Access to first time driver segment at point of entry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●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High margin insurance &amp; warranty opportunity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●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Capital light retail structure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●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Opportunity for embedded distribution partnerships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96BE"/>
              </a:buClr>
              <a:buSzPts val="2200"/>
              <a:buChar char="●"/>
            </a:pPr>
            <a:r>
              <a:rPr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Scalable distribution model</a:t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2596BE"/>
                </a:solidFill>
                <a:latin typeface="Arial"/>
                <a:ea typeface="Arial"/>
                <a:cs typeface="Arial"/>
                <a:sym typeface="Arial"/>
              </a:rPr>
              <a:t>Open to strategic dialogue around insurance, warranty and future capital alignment.</a:t>
            </a:r>
            <a:endParaRPr b="1" sz="2200">
              <a:solidFill>
                <a:srgbClr val="2596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logo with white text&#10;&#10;AI-generated content may be incorrect." id="150" name="Google Shape;150;p22"/>
          <p:cNvPicPr preferRelativeResize="0"/>
          <p:nvPr/>
        </p:nvPicPr>
        <p:blipFill rotWithShape="1">
          <a:blip r:embed="rId3">
            <a:alphaModFix/>
          </a:blip>
          <a:srcRect b="37640" l="32982" r="33404" t="0"/>
          <a:stretch/>
        </p:blipFill>
        <p:spPr>
          <a:xfrm>
            <a:off x="8229599" y="5592314"/>
            <a:ext cx="799363" cy="1173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